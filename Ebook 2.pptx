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9DE7"/>
    <a:srgbClr val="1216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30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FF428-6704-4C32-80A9-2314F7D54F6C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874FA-1C02-4DEE-8A8E-33CB914828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25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5EE0-60D6-4ED2-8A85-CC12D2E3E0A9}" type="datetime1">
              <a:rPr lang="pt-BR" smtClean="0"/>
              <a:t>07/11/2025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773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18A3-3F83-47BB-87E5-D1F1EDA0BA76}" type="datetime1">
              <a:rPr lang="pt-BR" smtClean="0"/>
              <a:t>07/11/2025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2507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E3B79-7C48-4D2F-8199-3D0EA5924B32}" type="datetime1">
              <a:rPr lang="pt-BR" smtClean="0"/>
              <a:t>07/11/2025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2689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58B45-A92E-4E30-A78E-AD6167D8290A}" type="datetime1">
              <a:rPr lang="pt-BR" smtClean="0"/>
              <a:t>07/11/2025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159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BEC00-BE9F-4C74-806A-86E7B702FE46}" type="datetime1">
              <a:rPr lang="pt-BR" smtClean="0"/>
              <a:t>07/11/2025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294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8FFCF-13FD-432C-9ABB-0120E9B00D06}" type="datetime1">
              <a:rPr lang="pt-BR" smtClean="0"/>
              <a:t>07/11/2025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114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C1C5D-7A24-4327-991F-3278377396CE}" type="datetime1">
              <a:rPr lang="pt-BR" smtClean="0"/>
              <a:t>07/11/2025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489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64D0-167E-4E88-9385-7D9338689A16}" type="datetime1">
              <a:rPr lang="pt-BR" smtClean="0"/>
              <a:t>07/11/2025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31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9F4E-4776-4BBF-8223-129A0B7BDC39}" type="datetime1">
              <a:rPr lang="pt-BR" smtClean="0"/>
              <a:t>07/11/2025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4361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D1A38-B8A4-4383-B454-FE34022957E7}" type="datetime1">
              <a:rPr lang="pt-BR" smtClean="0"/>
              <a:t>07/11/2025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818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DD7B3-8E8F-4D87-98F8-DEE58046D355}" type="datetime1">
              <a:rPr lang="pt-BR" smtClean="0"/>
              <a:t>07/11/2025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2076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3C011-C076-4F1C-A63E-75B53FEBE690}" type="datetime1">
              <a:rPr lang="pt-BR" smtClean="0"/>
              <a:t>07/11/2025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EEFE0-7673-4BDB-8254-888A307D8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609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7658A18-C501-450C-BB74-F7EE7A5102AE}"/>
              </a:ext>
            </a:extLst>
          </p:cNvPr>
          <p:cNvSpPr/>
          <p:nvPr/>
        </p:nvSpPr>
        <p:spPr>
          <a:xfrm>
            <a:off x="0" y="0"/>
            <a:ext cx="9648498" cy="12801600"/>
          </a:xfrm>
          <a:prstGeom prst="rect">
            <a:avLst/>
          </a:prstGeom>
          <a:solidFill>
            <a:srgbClr val="121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342101D-9614-4889-94C2-93E85DEA0B92}"/>
              </a:ext>
            </a:extLst>
          </p:cNvPr>
          <p:cNvSpPr/>
          <p:nvPr/>
        </p:nvSpPr>
        <p:spPr>
          <a:xfrm>
            <a:off x="2522483" y="11266375"/>
            <a:ext cx="438281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9" name="Picture 5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BFA260CC-B391-47C7-8FC4-9963C30A8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52" y="1816019"/>
            <a:ext cx="8276896" cy="903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Logotipo">
            <a:extLst>
              <a:ext uri="{FF2B5EF4-FFF2-40B4-BE49-F238E27FC236}">
                <a16:creationId xmlns:a16="http://schemas.microsoft.com/office/drawing/2014/main" id="{3E99A63D-F106-44BC-BC09-D7D6D0FAA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742" y="9033642"/>
            <a:ext cx="3229715" cy="1629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30B12F5-55AD-443F-A03B-2507CB086EC5}"/>
              </a:ext>
            </a:extLst>
          </p:cNvPr>
          <p:cNvSpPr txBox="1"/>
          <p:nvPr/>
        </p:nvSpPr>
        <p:spPr>
          <a:xfrm>
            <a:off x="-23649" y="765784"/>
            <a:ext cx="119108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Java Script: A jornada do Console.Log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B540062-7AB1-47F6-954B-966110D87B4E}"/>
              </a:ext>
            </a:extLst>
          </p:cNvPr>
          <p:cNvSpPr txBox="1"/>
          <p:nvPr/>
        </p:nvSpPr>
        <p:spPr>
          <a:xfrm>
            <a:off x="662152" y="1535225"/>
            <a:ext cx="8276896" cy="561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99A8395-276B-4DCA-8CEA-9625A192F8C9}"/>
              </a:ext>
            </a:extLst>
          </p:cNvPr>
          <p:cNvSpPr txBox="1"/>
          <p:nvPr/>
        </p:nvSpPr>
        <p:spPr>
          <a:xfrm>
            <a:off x="2885090" y="11266375"/>
            <a:ext cx="372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pt-BR" sz="240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uiz Gustavo Rocha Gomes</a:t>
            </a:r>
          </a:p>
        </p:txBody>
      </p:sp>
      <p:sp>
        <p:nvSpPr>
          <p:cNvPr id="17" name="Espaço Reservado para Número de Slide 16">
            <a:extLst>
              <a:ext uri="{FF2B5EF4-FFF2-40B4-BE49-F238E27FC236}">
                <a16:creationId xmlns:a16="http://schemas.microsoft.com/office/drawing/2014/main" id="{D7D8440A-CA54-423B-A5BA-421382D1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4726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C10B2E3-A065-481F-984B-870475DBE923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15844E3-04B2-4178-84D2-63BAF8F1850E}"/>
              </a:ext>
            </a:extLst>
          </p:cNvPr>
          <p:cNvSpPr txBox="1"/>
          <p:nvPr/>
        </p:nvSpPr>
        <p:spPr>
          <a:xfrm>
            <a:off x="-786342" y="5680595"/>
            <a:ext cx="113984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noFill/>
                <a:latin typeface="Impact" panose="020B0806030902050204" pitchFamily="34" charset="0"/>
                <a:ea typeface="Cambria" panose="02040503050406030204" pitchFamily="18" charset="0"/>
              </a:rPr>
              <a:t>O que é JavaScript</a:t>
            </a:r>
            <a:endParaRPr lang="pt-BR" sz="1600" dirty="0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9D1393B-2852-4692-8364-2ACFD6A4D6A4}"/>
              </a:ext>
            </a:extLst>
          </p:cNvPr>
          <p:cNvSpPr txBox="1"/>
          <p:nvPr/>
        </p:nvSpPr>
        <p:spPr>
          <a:xfrm>
            <a:off x="2937570" y="1288640"/>
            <a:ext cx="3726055" cy="45089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700" dirty="0">
                <a:ln>
                  <a:solidFill>
                    <a:schemeClr val="bg1"/>
                  </a:solidFill>
                </a:ln>
                <a:noFill/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2085CA0-6C0B-4CDF-AB83-455EB189F5B2}"/>
              </a:ext>
            </a:extLst>
          </p:cNvPr>
          <p:cNvSpPr/>
          <p:nvPr/>
        </p:nvSpPr>
        <p:spPr>
          <a:xfrm flipV="1">
            <a:off x="1219200" y="7086206"/>
            <a:ext cx="7620000" cy="164825"/>
          </a:xfrm>
          <a:prstGeom prst="rect">
            <a:avLst/>
          </a:prstGeom>
          <a:gradFill flip="none" rotWithShape="1">
            <a:gsLst>
              <a:gs pos="40000">
                <a:srgbClr val="002060"/>
              </a:gs>
              <a:gs pos="51000">
                <a:schemeClr val="accent5">
                  <a:lumMod val="75000"/>
                </a:schemeClr>
              </a:gs>
              <a:gs pos="69000">
                <a:srgbClr val="DB9DE7"/>
              </a:gs>
              <a:gs pos="82000">
                <a:srgbClr val="7030A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E4D483-3920-4DDA-8150-B0CF635CA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3159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3D457CE-7822-4475-9F14-4E0849C3BD4E}"/>
              </a:ext>
            </a:extLst>
          </p:cNvPr>
          <p:cNvSpPr txBox="1"/>
          <p:nvPr/>
        </p:nvSpPr>
        <p:spPr>
          <a:xfrm>
            <a:off x="977462" y="1188929"/>
            <a:ext cx="725213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/>
              <a:t>O QUE É JAVASCRIPT</a:t>
            </a: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4F2975-1B5F-42EB-B29B-8129D889D931}"/>
              </a:ext>
            </a:extLst>
          </p:cNvPr>
          <p:cNvSpPr txBox="1"/>
          <p:nvPr/>
        </p:nvSpPr>
        <p:spPr>
          <a:xfrm>
            <a:off x="977462" y="2652960"/>
            <a:ext cx="66215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Imagine que um site é como um personagem de videogame. O </a:t>
            </a:r>
            <a:r>
              <a:rPr lang="pt-BR" b="1" dirty="0"/>
              <a:t>HTML</a:t>
            </a:r>
            <a:r>
              <a:rPr lang="pt-BR" dirty="0"/>
              <a:t> é o esqueleto (a estrutura), o </a:t>
            </a:r>
            <a:r>
              <a:rPr lang="pt-BR" b="1" dirty="0"/>
              <a:t>CSS</a:t>
            </a:r>
            <a:r>
              <a:rPr lang="pt-BR" dirty="0"/>
              <a:t> é a armadura e o visual (as cores e o estilo), e o </a:t>
            </a:r>
            <a:r>
              <a:rPr lang="pt-BR" b="1" dirty="0"/>
              <a:t>JavaScript</a:t>
            </a:r>
            <a:r>
              <a:rPr lang="pt-BR" dirty="0"/>
              <a:t> é o cérebro e os músculos (a </a:t>
            </a:r>
            <a:r>
              <a:rPr lang="pt-BR" b="1" dirty="0"/>
              <a:t>inteligência</a:t>
            </a:r>
            <a:r>
              <a:rPr lang="pt-BR" dirty="0"/>
              <a:t> e a </a:t>
            </a:r>
            <a:r>
              <a:rPr lang="pt-BR" b="1" dirty="0"/>
              <a:t>ação</a:t>
            </a:r>
            <a:r>
              <a:rPr lang="pt-BR" dirty="0"/>
              <a:t>!).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0C39D40-DF62-4CE0-89B9-5CC9132B147A}"/>
              </a:ext>
            </a:extLst>
          </p:cNvPr>
          <p:cNvSpPr txBox="1"/>
          <p:nvPr/>
        </p:nvSpPr>
        <p:spPr>
          <a:xfrm>
            <a:off x="1064172" y="4020207"/>
            <a:ext cx="6448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JS é a linguagem que faz as coisas </a:t>
            </a:r>
            <a:r>
              <a:rPr lang="pt-BR" b="1" dirty="0"/>
              <a:t>acontecerem</a:t>
            </a:r>
            <a:r>
              <a:rPr lang="pt-BR" dirty="0"/>
              <a:t> na web. Sabe quando você clica em um botão e um menu aparece, ou quando um formulário checa se seu e-mail está certo? Isso é o JavaScript trabalhando para deixar o site </a:t>
            </a:r>
            <a:r>
              <a:rPr lang="pt-BR" b="1" dirty="0"/>
              <a:t>vivo</a:t>
            </a:r>
            <a:r>
              <a:rPr lang="pt-BR" dirty="0"/>
              <a:t> e </a:t>
            </a:r>
            <a:r>
              <a:rPr lang="pt-BR" b="1" dirty="0"/>
              <a:t>interativo</a:t>
            </a:r>
            <a:r>
              <a:rPr lang="pt-BR" dirty="0"/>
              <a:t>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C464B85-15D3-4C90-84C6-A1EF37FBEDCE}"/>
              </a:ext>
            </a:extLst>
          </p:cNvPr>
          <p:cNvSpPr/>
          <p:nvPr/>
        </p:nvSpPr>
        <p:spPr>
          <a:xfrm flipV="1">
            <a:off x="878927" y="-11399"/>
            <a:ext cx="98535" cy="1754326"/>
          </a:xfrm>
          <a:prstGeom prst="rect">
            <a:avLst/>
          </a:prstGeom>
          <a:gradFill flip="none" rotWithShape="1">
            <a:gsLst>
              <a:gs pos="40000">
                <a:srgbClr val="002060"/>
              </a:gs>
              <a:gs pos="51000">
                <a:schemeClr val="accent5">
                  <a:lumMod val="75000"/>
                </a:schemeClr>
              </a:gs>
              <a:gs pos="69000">
                <a:srgbClr val="DB9DE7"/>
              </a:gs>
              <a:gs pos="82000">
                <a:srgbClr val="7030A0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6107A32-F42B-4FD6-BAF5-FF7B7B942D00}"/>
              </a:ext>
            </a:extLst>
          </p:cNvPr>
          <p:cNvSpPr txBox="1"/>
          <p:nvPr/>
        </p:nvSpPr>
        <p:spPr>
          <a:xfrm>
            <a:off x="1064173" y="5654253"/>
            <a:ext cx="65348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É o seu "chip" de programação para dar vida às suas criações, transformando páginas estáticas em mundos dinâmicos</a:t>
            </a:r>
          </a:p>
        </p:txBody>
      </p:sp>
      <p:pic>
        <p:nvPicPr>
          <p:cNvPr id="8" name="Picture 9" descr="Logotipo">
            <a:extLst>
              <a:ext uri="{FF2B5EF4-FFF2-40B4-BE49-F238E27FC236}">
                <a16:creationId xmlns:a16="http://schemas.microsoft.com/office/drawing/2014/main" id="{FC5FDC4D-29C6-49FC-97BD-65A094826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243" y="9768376"/>
            <a:ext cx="3372713" cy="2096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6C3446E2-6B6F-4EF8-9077-F3227A26A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5487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C10B2E3-A065-481F-984B-870475DBE923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15844E3-04B2-4178-84D2-63BAF8F1850E}"/>
              </a:ext>
            </a:extLst>
          </p:cNvPr>
          <p:cNvSpPr txBox="1"/>
          <p:nvPr/>
        </p:nvSpPr>
        <p:spPr>
          <a:xfrm>
            <a:off x="-786342" y="5680595"/>
            <a:ext cx="113984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noFill/>
                <a:latin typeface="Impact" panose="020B0806030902050204" pitchFamily="34" charset="0"/>
                <a:ea typeface="Cambria" panose="02040503050406030204" pitchFamily="18" charset="0"/>
              </a:rPr>
              <a:t>Variáveis e Dados</a:t>
            </a:r>
            <a:endParaRPr lang="pt-BR" sz="1600" dirty="0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9D1393B-2852-4692-8364-2ACFD6A4D6A4}"/>
              </a:ext>
            </a:extLst>
          </p:cNvPr>
          <p:cNvSpPr txBox="1"/>
          <p:nvPr/>
        </p:nvSpPr>
        <p:spPr>
          <a:xfrm>
            <a:off x="2937570" y="1288640"/>
            <a:ext cx="4169083" cy="45089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700" dirty="0">
                <a:ln>
                  <a:solidFill>
                    <a:schemeClr val="bg1"/>
                  </a:solidFill>
                </a:ln>
                <a:noFill/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2085CA0-6C0B-4CDF-AB83-455EB189F5B2}"/>
              </a:ext>
            </a:extLst>
          </p:cNvPr>
          <p:cNvSpPr/>
          <p:nvPr/>
        </p:nvSpPr>
        <p:spPr>
          <a:xfrm flipV="1">
            <a:off x="1219200" y="7086206"/>
            <a:ext cx="7620000" cy="164825"/>
          </a:xfrm>
          <a:prstGeom prst="rect">
            <a:avLst/>
          </a:prstGeom>
          <a:gradFill flip="none" rotWithShape="1">
            <a:gsLst>
              <a:gs pos="40000">
                <a:srgbClr val="002060"/>
              </a:gs>
              <a:gs pos="51000">
                <a:schemeClr val="accent5">
                  <a:lumMod val="75000"/>
                </a:schemeClr>
              </a:gs>
              <a:gs pos="69000">
                <a:srgbClr val="DB9DE7"/>
              </a:gs>
              <a:gs pos="82000">
                <a:srgbClr val="7030A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C95303-1851-4B0A-B987-CEA006DD1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0501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3D457CE-7822-4475-9F14-4E0849C3BD4E}"/>
              </a:ext>
            </a:extLst>
          </p:cNvPr>
          <p:cNvSpPr txBox="1"/>
          <p:nvPr/>
        </p:nvSpPr>
        <p:spPr>
          <a:xfrm>
            <a:off x="977462" y="1188929"/>
            <a:ext cx="725213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/>
              <a:t>VARIÁVEIS 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4F2975-1B5F-42EB-B29B-8129D889D931}"/>
              </a:ext>
            </a:extLst>
          </p:cNvPr>
          <p:cNvSpPr txBox="1"/>
          <p:nvPr/>
        </p:nvSpPr>
        <p:spPr>
          <a:xfrm>
            <a:off x="977462" y="2652960"/>
            <a:ext cx="66215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Variáveis são como caixas ou slots de inventário que você usa para guardar informações dentro do seu código. Elas são essenciais para lembrar de coisas </a:t>
            </a:r>
            <a:r>
              <a:rPr lang="pt-BR" dirty="0" err="1"/>
              <a:t>importantes.Fácil</a:t>
            </a:r>
            <a:r>
              <a:rPr lang="pt-BR" dirty="0"/>
              <a:t> de Entender: Você usa palavras-chave como </a:t>
            </a:r>
            <a:r>
              <a:rPr lang="pt-BR" dirty="0" err="1"/>
              <a:t>let</a:t>
            </a:r>
            <a:r>
              <a:rPr lang="pt-BR" dirty="0"/>
              <a:t> ou </a:t>
            </a:r>
            <a:r>
              <a:rPr lang="pt-BR" dirty="0" err="1"/>
              <a:t>const</a:t>
            </a:r>
            <a:r>
              <a:rPr lang="pt-BR" dirty="0"/>
              <a:t> para criar uma caixa.</a:t>
            </a:r>
          </a:p>
          <a:p>
            <a:r>
              <a:rPr lang="pt-BR" dirty="0"/>
              <a:t>Exemplo: 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C464B85-15D3-4C90-84C6-A1EF37FBEDCE}"/>
              </a:ext>
            </a:extLst>
          </p:cNvPr>
          <p:cNvSpPr/>
          <p:nvPr/>
        </p:nvSpPr>
        <p:spPr>
          <a:xfrm flipV="1">
            <a:off x="878927" y="-11399"/>
            <a:ext cx="98535" cy="1754326"/>
          </a:xfrm>
          <a:prstGeom prst="rect">
            <a:avLst/>
          </a:prstGeom>
          <a:gradFill flip="none" rotWithShape="1">
            <a:gsLst>
              <a:gs pos="40000">
                <a:srgbClr val="002060"/>
              </a:gs>
              <a:gs pos="51000">
                <a:schemeClr val="accent5">
                  <a:lumMod val="75000"/>
                </a:schemeClr>
              </a:gs>
              <a:gs pos="69000">
                <a:srgbClr val="DB9DE7"/>
              </a:gs>
              <a:gs pos="82000">
                <a:srgbClr val="7030A0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" name="Picture 9" descr="Logotipo">
            <a:extLst>
              <a:ext uri="{FF2B5EF4-FFF2-40B4-BE49-F238E27FC236}">
                <a16:creationId xmlns:a16="http://schemas.microsoft.com/office/drawing/2014/main" id="{FC5FDC4D-29C6-49FC-97BD-65A094826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174" y="9886610"/>
            <a:ext cx="3372713" cy="1664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1898925-76E3-4F49-85FA-3B20563DD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296" y="4350837"/>
            <a:ext cx="5721110" cy="2573315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38DE650D-14FF-4C8C-8203-1547062F9F76}"/>
              </a:ext>
            </a:extLst>
          </p:cNvPr>
          <p:cNvSpPr txBox="1"/>
          <p:nvPr/>
        </p:nvSpPr>
        <p:spPr>
          <a:xfrm>
            <a:off x="977462" y="7077106"/>
            <a:ext cx="4016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(A caixa "pontuação" guarda o número 100)</a:t>
            </a:r>
          </a:p>
        </p:txBody>
      </p:sp>
      <p:sp>
        <p:nvSpPr>
          <p:cNvPr id="18" name="Espaço Reservado para Número de Slide 17">
            <a:extLst>
              <a:ext uri="{FF2B5EF4-FFF2-40B4-BE49-F238E27FC236}">
                <a16:creationId xmlns:a16="http://schemas.microsoft.com/office/drawing/2014/main" id="{43510D2C-70C1-4EC5-A4E8-92F973CF4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4642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C10B2E3-A065-481F-984B-870475DBE923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15844E3-04B2-4178-84D2-63BAF8F1850E}"/>
              </a:ext>
            </a:extLst>
          </p:cNvPr>
          <p:cNvSpPr txBox="1"/>
          <p:nvPr/>
        </p:nvSpPr>
        <p:spPr>
          <a:xfrm>
            <a:off x="-786342" y="5680595"/>
            <a:ext cx="113984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noFill/>
                <a:latin typeface="Impact" panose="020B0806030902050204" pitchFamily="34" charset="0"/>
                <a:ea typeface="Cambria" panose="02040503050406030204" pitchFamily="18" charset="0"/>
              </a:rPr>
              <a:t>Funções</a:t>
            </a:r>
            <a:endParaRPr lang="pt-BR" sz="1600" dirty="0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9D1393B-2852-4692-8364-2ACFD6A4D6A4}"/>
              </a:ext>
            </a:extLst>
          </p:cNvPr>
          <p:cNvSpPr txBox="1"/>
          <p:nvPr/>
        </p:nvSpPr>
        <p:spPr>
          <a:xfrm>
            <a:off x="2937570" y="1288640"/>
            <a:ext cx="4169083" cy="45089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700" dirty="0">
                <a:ln>
                  <a:solidFill>
                    <a:schemeClr val="bg1"/>
                  </a:solidFill>
                </a:ln>
                <a:noFill/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2085CA0-6C0B-4CDF-AB83-455EB189F5B2}"/>
              </a:ext>
            </a:extLst>
          </p:cNvPr>
          <p:cNvSpPr/>
          <p:nvPr/>
        </p:nvSpPr>
        <p:spPr>
          <a:xfrm flipV="1">
            <a:off x="1219200" y="7086206"/>
            <a:ext cx="7620000" cy="164825"/>
          </a:xfrm>
          <a:prstGeom prst="rect">
            <a:avLst/>
          </a:prstGeom>
          <a:gradFill flip="none" rotWithShape="1">
            <a:gsLst>
              <a:gs pos="40000">
                <a:srgbClr val="002060"/>
              </a:gs>
              <a:gs pos="51000">
                <a:schemeClr val="accent5">
                  <a:lumMod val="75000"/>
                </a:schemeClr>
              </a:gs>
              <a:gs pos="69000">
                <a:srgbClr val="DB9DE7"/>
              </a:gs>
              <a:gs pos="82000">
                <a:srgbClr val="7030A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C95303-1851-4B0A-B987-CEA006DD1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7084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3D457CE-7822-4475-9F14-4E0849C3BD4E}"/>
              </a:ext>
            </a:extLst>
          </p:cNvPr>
          <p:cNvSpPr txBox="1"/>
          <p:nvPr/>
        </p:nvSpPr>
        <p:spPr>
          <a:xfrm>
            <a:off x="977462" y="1188929"/>
            <a:ext cx="725213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/>
              <a:t>Funções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4F2975-1B5F-42EB-B29B-8129D889D931}"/>
              </a:ext>
            </a:extLst>
          </p:cNvPr>
          <p:cNvSpPr txBox="1"/>
          <p:nvPr/>
        </p:nvSpPr>
        <p:spPr>
          <a:xfrm>
            <a:off x="977462" y="2652960"/>
            <a:ext cx="66215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Uma função é um bloco de código que faz uma tarefa específica. Você define a função uma vez e pode chamá-la (executá-la) sempre que precisar. Isso torna seu código organizado e evita repetição.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C464B85-15D3-4C90-84C6-A1EF37FBEDCE}"/>
              </a:ext>
            </a:extLst>
          </p:cNvPr>
          <p:cNvSpPr/>
          <p:nvPr/>
        </p:nvSpPr>
        <p:spPr>
          <a:xfrm flipV="1">
            <a:off x="878927" y="-11399"/>
            <a:ext cx="98535" cy="1754326"/>
          </a:xfrm>
          <a:prstGeom prst="rect">
            <a:avLst/>
          </a:prstGeom>
          <a:gradFill flip="none" rotWithShape="1">
            <a:gsLst>
              <a:gs pos="40000">
                <a:srgbClr val="002060"/>
              </a:gs>
              <a:gs pos="51000">
                <a:schemeClr val="accent5">
                  <a:lumMod val="75000"/>
                </a:schemeClr>
              </a:gs>
              <a:gs pos="69000">
                <a:srgbClr val="DB9DE7"/>
              </a:gs>
              <a:gs pos="82000">
                <a:srgbClr val="7030A0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" name="Picture 9" descr="Logotipo">
            <a:extLst>
              <a:ext uri="{FF2B5EF4-FFF2-40B4-BE49-F238E27FC236}">
                <a16:creationId xmlns:a16="http://schemas.microsoft.com/office/drawing/2014/main" id="{FC5FDC4D-29C6-49FC-97BD-65A094826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174" y="9886610"/>
            <a:ext cx="3372713" cy="1664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Espaço Reservado para Número de Slide 17">
            <a:extLst>
              <a:ext uri="{FF2B5EF4-FFF2-40B4-BE49-F238E27FC236}">
                <a16:creationId xmlns:a16="http://schemas.microsoft.com/office/drawing/2014/main" id="{43510D2C-70C1-4EC5-A4E8-92F973CF4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7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FCACB6-544B-4B2D-9B58-524EF9897A5F}"/>
              </a:ext>
            </a:extLst>
          </p:cNvPr>
          <p:cNvSpPr txBox="1"/>
          <p:nvPr/>
        </p:nvSpPr>
        <p:spPr>
          <a:xfrm>
            <a:off x="1087821" y="4130288"/>
            <a:ext cx="5990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 um e-commerce, sempre que um produto for adicionado à lista final, precisamos calcular o preço com desconto. EX: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0D035D6-B1F5-4971-A7D4-DE51F1F51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94" y="5046501"/>
            <a:ext cx="7047186" cy="266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264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C10B2E3-A065-481F-984B-870475DBE923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15844E3-04B2-4178-84D2-63BAF8F1850E}"/>
              </a:ext>
            </a:extLst>
          </p:cNvPr>
          <p:cNvSpPr txBox="1"/>
          <p:nvPr/>
        </p:nvSpPr>
        <p:spPr>
          <a:xfrm>
            <a:off x="-786342" y="5680595"/>
            <a:ext cx="113984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noFill/>
                <a:latin typeface="Impact" panose="020B0806030902050204" pitchFamily="34" charset="0"/>
                <a:ea typeface="Cambria" panose="02040503050406030204" pitchFamily="18" charset="0"/>
              </a:rPr>
              <a:t>Conclusões</a:t>
            </a:r>
            <a:endParaRPr lang="pt-BR" sz="1600" dirty="0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9D1393B-2852-4692-8364-2ACFD6A4D6A4}"/>
              </a:ext>
            </a:extLst>
          </p:cNvPr>
          <p:cNvSpPr txBox="1"/>
          <p:nvPr/>
        </p:nvSpPr>
        <p:spPr>
          <a:xfrm>
            <a:off x="2937570" y="1288640"/>
            <a:ext cx="4169083" cy="45089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700" dirty="0">
                <a:ln>
                  <a:solidFill>
                    <a:schemeClr val="bg1"/>
                  </a:solidFill>
                </a:ln>
                <a:noFill/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2085CA0-6C0B-4CDF-AB83-455EB189F5B2}"/>
              </a:ext>
            </a:extLst>
          </p:cNvPr>
          <p:cNvSpPr/>
          <p:nvPr/>
        </p:nvSpPr>
        <p:spPr>
          <a:xfrm flipV="1">
            <a:off x="1219200" y="7086206"/>
            <a:ext cx="7620000" cy="164825"/>
          </a:xfrm>
          <a:prstGeom prst="rect">
            <a:avLst/>
          </a:prstGeom>
          <a:gradFill flip="none" rotWithShape="1">
            <a:gsLst>
              <a:gs pos="40000">
                <a:srgbClr val="002060"/>
              </a:gs>
              <a:gs pos="51000">
                <a:schemeClr val="accent5">
                  <a:lumMod val="75000"/>
                </a:schemeClr>
              </a:gs>
              <a:gs pos="69000">
                <a:srgbClr val="DB9DE7"/>
              </a:gs>
              <a:gs pos="82000">
                <a:srgbClr val="7030A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C95303-1851-4B0A-B987-CEA006DD1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8244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3D457CE-7822-4475-9F14-4E0849C3BD4E}"/>
              </a:ext>
            </a:extLst>
          </p:cNvPr>
          <p:cNvSpPr txBox="1"/>
          <p:nvPr/>
        </p:nvSpPr>
        <p:spPr>
          <a:xfrm>
            <a:off x="1174531" y="529302"/>
            <a:ext cx="662151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dirty="0"/>
              <a:t>OBRIGADO POR LER ATÉ AQUI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4F2975-1B5F-42EB-B29B-8129D889D931}"/>
              </a:ext>
            </a:extLst>
          </p:cNvPr>
          <p:cNvSpPr txBox="1"/>
          <p:nvPr/>
        </p:nvSpPr>
        <p:spPr>
          <a:xfrm>
            <a:off x="1489841" y="3384730"/>
            <a:ext cx="6621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Ebook foi gerador por I.A, e diagramado por um humano.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C464B85-15D3-4C90-84C6-A1EF37FBEDCE}"/>
              </a:ext>
            </a:extLst>
          </p:cNvPr>
          <p:cNvSpPr/>
          <p:nvPr/>
        </p:nvSpPr>
        <p:spPr>
          <a:xfrm flipV="1">
            <a:off x="878927" y="-11399"/>
            <a:ext cx="98535" cy="1754326"/>
          </a:xfrm>
          <a:prstGeom prst="rect">
            <a:avLst/>
          </a:prstGeom>
          <a:gradFill flip="none" rotWithShape="1">
            <a:gsLst>
              <a:gs pos="40000">
                <a:srgbClr val="002060"/>
              </a:gs>
              <a:gs pos="51000">
                <a:schemeClr val="accent5">
                  <a:lumMod val="75000"/>
                </a:schemeClr>
              </a:gs>
              <a:gs pos="69000">
                <a:srgbClr val="DB9DE7"/>
              </a:gs>
              <a:gs pos="82000">
                <a:srgbClr val="7030A0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" name="Picture 9" descr="Logotipo">
            <a:extLst>
              <a:ext uri="{FF2B5EF4-FFF2-40B4-BE49-F238E27FC236}">
                <a16:creationId xmlns:a16="http://schemas.microsoft.com/office/drawing/2014/main" id="{FC5FDC4D-29C6-49FC-97BD-65A094826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174" y="9886610"/>
            <a:ext cx="3372713" cy="1664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Espaço Reservado para Número de Slide 17">
            <a:extLst>
              <a:ext uri="{FF2B5EF4-FFF2-40B4-BE49-F238E27FC236}">
                <a16:creationId xmlns:a16="http://schemas.microsoft.com/office/drawing/2014/main" id="{43510D2C-70C1-4EC5-A4E8-92F973CF4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EEFE0-7673-4BDB-8254-888A307D8C85}" type="slidenum">
              <a:rPr lang="pt-BR" smtClean="0"/>
              <a:t>9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FCACB6-544B-4B2D-9B58-524EF9897A5F}"/>
              </a:ext>
            </a:extLst>
          </p:cNvPr>
          <p:cNvSpPr txBox="1"/>
          <p:nvPr/>
        </p:nvSpPr>
        <p:spPr>
          <a:xfrm>
            <a:off x="1489841" y="4332303"/>
            <a:ext cx="5990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Esse conteúdo foi gerado com fins didáticos de construção, não foi realizado uma validação humana no conteúdo e pode conter erros gerados por I.A.</a:t>
            </a:r>
          </a:p>
        </p:txBody>
      </p:sp>
    </p:spTree>
    <p:extLst>
      <p:ext uri="{BB962C8B-B14F-4D97-AF65-F5344CB8AC3E}">
        <p14:creationId xmlns:p14="http://schemas.microsoft.com/office/powerpoint/2010/main" val="1927859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206</TotalTime>
  <Words>329</Words>
  <Application>Microsoft Office PowerPoint</Application>
  <PresentationFormat>Papel A3 (297 x 420 mm)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Bell MT</vt:lpstr>
      <vt:lpstr>Calibri</vt:lpstr>
      <vt:lpstr>Calibri Light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GUSTAVO ROCHA GOMES</dc:creator>
  <cp:lastModifiedBy>LUIZ GUSTAVO ROCHA GOMES</cp:lastModifiedBy>
  <cp:revision>16</cp:revision>
  <dcterms:created xsi:type="dcterms:W3CDTF">2025-11-06T03:43:04Z</dcterms:created>
  <dcterms:modified xsi:type="dcterms:W3CDTF">2025-11-07T05:05:13Z</dcterms:modified>
</cp:coreProperties>
</file>